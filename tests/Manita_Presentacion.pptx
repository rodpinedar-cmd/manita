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6B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463040"/>
            <a:ext cx="12191695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dirty="0">
                <a:solidFill>
                  <a:srgbClr val="FFFFFF"/>
                </a:solidFill>
              </a:rPr>
              <a:t>🤝</a:t>
            </a:r>
            <a:endParaRPr lang="en-US" sz="8000" dirty="0"/>
          </a:p>
        </p:txBody>
      </p:sp>
      <p:sp>
        <p:nvSpPr>
          <p:cNvPr id="3" name="Text 1"/>
          <p:cNvSpPr/>
          <p:nvPr/>
        </p:nvSpPr>
        <p:spPr>
          <a:xfrm>
            <a:off x="0" y="2743200"/>
            <a:ext cx="12191695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</a:rPr>
              <a:t>Manita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628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El marketplace de servicios a domicilio para la Ciudad de México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0" y="4754880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E4DC"/>
                </a:solidFill>
              </a:rPr>
              <a:t>Web + App instalable · Agosto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6B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43D26"/>
                </a:solidFill>
              </a:rPr>
              <a:t>EL PROBLEMA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3E75"/>
                </a:solidFill>
              </a:rPr>
              <a:t>Contratar un servicio a domicilio en CDMX es incierto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920240"/>
            <a:ext cx="108813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800" dirty="0">
                <a:solidFill>
                  <a:srgbClr val="22232B"/>
                </a:solidFill>
              </a:rPr>
              <a:t>Recomendaciones sueltas por WhatsApp o redes, sin garantía.</a:t>
            </a:r>
            <a:endParaRPr lang="en-US" sz="18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800" dirty="0">
                <a:solidFill>
                  <a:srgbClr val="22232B"/>
                </a:solidFill>
              </a:rPr>
              <a:t>No sabes si el precio es justo ni si la persona es confiable.</a:t>
            </a:r>
            <a:endParaRPr lang="en-US" sz="18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800" dirty="0">
                <a:solidFill>
                  <a:srgbClr val="22232B"/>
                </a:solidFill>
              </a:rPr>
              <a:t>Sin respaldo si algo sale mal.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36576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43D26"/>
                </a:solidFill>
              </a:rPr>
              <a:t>LA OPORTUNIDAD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402336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2232B"/>
                </a:solidFill>
              </a:rPr>
              <a:t>Un solo lugar para encontrar, comparar y reservar profesionales verificados, con precio claro y respaldo.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5120640"/>
            <a:ext cx="10881360" cy="731520"/>
          </a:xfrm>
          <a:prstGeom prst="rect">
            <a:avLst/>
          </a:prstGeom>
          <a:solidFill>
            <a:srgbClr val="FFF0EC"/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565D6B"/>
                </a:solidFill>
              </a:rPr>
              <a:t>📌 Tamaño y demanda de mercado en CDMX: por validar con investigación de campo. No usamos cifras infladas.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65D6B"/>
                </a:solidFill>
              </a:rPr>
              <a:t>Manita · manita-cdmx.netlify.app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27729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5D6B"/>
                </a:solidFill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6B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43D26"/>
                </a:solidFill>
              </a:rPr>
              <a:t>LA SOLUCIÓN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3E75"/>
                </a:solidFill>
              </a:rPr>
              <a:t>Manita: confianza en cada reserva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3474720" cy="2011680"/>
          </a:xfrm>
          <a:prstGeom prst="roundRect">
            <a:avLst>
              <a:gd name="adj" fmla="val 5455"/>
            </a:avLst>
          </a:prstGeom>
          <a:solidFill>
            <a:srgbClr val="FBF7F4"/>
          </a:solidFill>
          <a:ln w="12700">
            <a:solidFill>
              <a:srgbClr val="ECE7E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28600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D3E75"/>
                </a:solidFill>
              </a:rPr>
              <a:t>🔎 Encuentra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2880360"/>
            <a:ext cx="3108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65D6B"/>
                </a:solidFill>
              </a:rPr>
              <a:t>Profesionales por categoría, zona y precio.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343400" y="2103120"/>
            <a:ext cx="3474720" cy="2011680"/>
          </a:xfrm>
          <a:prstGeom prst="roundRect">
            <a:avLst>
              <a:gd name="adj" fmla="val 5455"/>
            </a:avLst>
          </a:prstGeom>
          <a:solidFill>
            <a:srgbClr val="FBF7F4"/>
          </a:solidFill>
          <a:ln w="12700">
            <a:solidFill>
              <a:srgbClr val="ECE7E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26280" y="228600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D3E75"/>
                </a:solidFill>
              </a:rPr>
              <a:t>📅 Reserva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26280" y="2880360"/>
            <a:ext cx="3108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65D6B"/>
                </a:solidFill>
              </a:rPr>
              <a:t>Fecha, hora y dirección. Precio calculado en el servidor.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046720" y="2103120"/>
            <a:ext cx="3474720" cy="2011680"/>
          </a:xfrm>
          <a:prstGeom prst="roundRect">
            <a:avLst>
              <a:gd name="adj" fmla="val 5455"/>
            </a:avLst>
          </a:prstGeom>
          <a:solidFill>
            <a:srgbClr val="FBF7F4"/>
          </a:solidFill>
          <a:ln w="12700">
            <a:solidFill>
              <a:srgbClr val="ECE7E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0" y="228600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D3E75"/>
                </a:solidFill>
              </a:rPr>
              <a:t>🛡️ Con respaldo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229600" y="2880360"/>
            <a:ext cx="3108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65D6B"/>
                </a:solidFill>
              </a:rPr>
              <a:t>Reseñas reales y (próximamente) pago protegido.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" y="448056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232B"/>
                </a:solidFill>
              </a:rPr>
              <a:t>Disponible como web y como app instalable (Android e iPhone), sin tiendas de por medio.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65D6B"/>
                </a:solidFill>
              </a:rPr>
              <a:t>Manita · manita-cdmx.netlify.app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127729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5D6B"/>
                </a:solidFill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6B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43D26"/>
                </a:solidFill>
              </a:rPr>
              <a:t>LA WEB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3E75"/>
                </a:solidFill>
              </a:rPr>
              <a:t>Versión web (navegador)</a:t>
            </a:r>
            <a:endParaRPr lang="en-US" sz="3000" dirty="0"/>
          </a:p>
        </p:txBody>
      </p:sp>
      <p:pic>
        <p:nvPicPr>
          <p:cNvPr id="5" name="Image 0" descr="C:\Users\rpinedar\kiro chats\desktop-organizer\manita\tests\capturas\01-inicio-web-desktop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2011680"/>
            <a:ext cx="3474720" cy="24688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452628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65D6B"/>
                </a:solidFill>
              </a:rPr>
              <a:t>Landing: hero y garantía</a:t>
            </a:r>
            <a:endParaRPr lang="en-US" sz="1300" dirty="0"/>
          </a:p>
        </p:txBody>
      </p:sp>
      <p:pic>
        <p:nvPicPr>
          <p:cNvPr id="7" name="Image 1" descr="C:\Users\rpinedar\kiro chats\desktop-organizer\manita\tests\capturas\05-servicios-desktop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343400" y="2011680"/>
            <a:ext cx="3474720" cy="246888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343400" y="452628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65D6B"/>
                </a:solidFill>
              </a:rPr>
              <a:t>Servicios: filtros y orden</a:t>
            </a:r>
            <a:endParaRPr lang="en-US" sz="1300" dirty="0"/>
          </a:p>
        </p:txBody>
      </p:sp>
      <p:pic>
        <p:nvPicPr>
          <p:cNvPr id="9" name="Image 2" descr="C:\Users\rpinedar\kiro chats\desktop-organizer\manita\tests\capturas\12-legal-desktop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046720" y="2011680"/>
            <a:ext cx="3474720" cy="246888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046720" y="452628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65D6B"/>
                </a:solidFill>
              </a:rPr>
              <a:t>Términos y privacidad</a:t>
            </a:r>
            <a:endParaRPr lang="en-US" sz="1300" dirty="0"/>
          </a:p>
        </p:txBody>
      </p:sp>
      <p:sp>
        <p:nvSpPr>
          <p:cNvPr id="11" name="Text 6"/>
          <p:cNvSpPr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65D6B"/>
                </a:solidFill>
              </a:rPr>
              <a:t>Manita · manita-cdmx.netlify.app</a:t>
            </a:r>
            <a:endParaRPr lang="en-US" sz="1000" dirty="0"/>
          </a:p>
        </p:txBody>
      </p:sp>
      <p:sp>
        <p:nvSpPr>
          <p:cNvPr id="12" name="Text 7"/>
          <p:cNvSpPr/>
          <p:nvPr/>
        </p:nvSpPr>
        <p:spPr>
          <a:xfrm>
            <a:off x="1127729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5D6B"/>
                </a:solidFill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6B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43D26"/>
                </a:solidFill>
              </a:rPr>
              <a:t>LA APP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3E75"/>
                </a:solidFill>
              </a:rPr>
              <a:t>Versión app (instalada)</a:t>
            </a:r>
            <a:endParaRPr lang="en-US" sz="3000" dirty="0"/>
          </a:p>
        </p:txBody>
      </p:sp>
      <p:pic>
        <p:nvPicPr>
          <p:cNvPr id="5" name="Image 0" descr="C:\Users\rpinedar\kiro chats\desktop-organizer\manita\tests\capturas\02-inicio-app-iphon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463040" y="1737360"/>
            <a:ext cx="1828800" cy="21031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38404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65D6B"/>
                </a:solidFill>
              </a:rPr>
              <a:t>Home + barra de 5 tabs</a:t>
            </a:r>
            <a:endParaRPr lang="en-US" sz="1100" dirty="0"/>
          </a:p>
        </p:txBody>
      </p:sp>
      <p:pic>
        <p:nvPicPr>
          <p:cNvPr id="7" name="Image 1" descr="C:\Users\rpinedar\kiro chats\desktop-organizer\manita\tests\capturas\04-servicios-iphone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166360" y="1737360"/>
            <a:ext cx="1828800" cy="21031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343400" y="38404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65D6B"/>
                </a:solidFill>
              </a:rPr>
              <a:t>Listado móvil</a:t>
            </a:r>
            <a:endParaRPr lang="en-US" sz="1100" dirty="0"/>
          </a:p>
        </p:txBody>
      </p:sp>
      <p:pic>
        <p:nvPicPr>
          <p:cNvPr id="9" name="Image 2" descr="C:\Users\rpinedar\kiro chats\desktop-organizer\manita\tests\capturas\06-perfil-pro-iphone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869680" y="1737360"/>
            <a:ext cx="1828800" cy="210312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046720" y="38404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65D6B"/>
                </a:solidFill>
              </a:rPr>
              <a:t>Perfil y reserva</a:t>
            </a:r>
            <a:endParaRPr lang="en-US" sz="1100" dirty="0"/>
          </a:p>
        </p:txBody>
      </p:sp>
      <p:pic>
        <p:nvPicPr>
          <p:cNvPr id="11" name="Image 3" descr="C:\Users\rpinedar\kiro chats\desktop-organizer\manita\tests\capturas\11-onboarding-iphone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1463040" y="4206240"/>
            <a:ext cx="1828800" cy="210312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640080" y="630936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65D6B"/>
                </a:solidFill>
              </a:rPr>
              <a:t>Onboarding</a:t>
            </a:r>
            <a:endParaRPr lang="en-US" sz="1100" dirty="0"/>
          </a:p>
        </p:txBody>
      </p:sp>
      <p:pic>
        <p:nvPicPr>
          <p:cNvPr id="13" name="Image 4" descr="C:\Users\rpinedar\kiro chats\desktop-organizer\manita\tests\capturas\10-descarga-modal-iphone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5166360" y="4206240"/>
            <a:ext cx="1828800" cy="2103120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4343400" y="630936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65D6B"/>
                </a:solidFill>
              </a:rPr>
              <a:t>Instalación (QR)</a:t>
            </a:r>
            <a:endParaRPr lang="en-US" sz="1100" dirty="0"/>
          </a:p>
        </p:txBody>
      </p:sp>
      <p:pic>
        <p:nvPicPr>
          <p:cNvPr id="15" name="Image 5" descr="C:\Users\rpinedar\kiro chats\desktop-organizer\manita\tests\capturas\03-categorias-iphone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8869680" y="4206240"/>
            <a:ext cx="1828800" cy="2103120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8046720" y="630936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65D6B"/>
                </a:solidFill>
              </a:rPr>
              <a:t>Categorías</a:t>
            </a:r>
            <a:endParaRPr lang="en-US" sz="1100" dirty="0"/>
          </a:p>
        </p:txBody>
      </p:sp>
      <p:sp>
        <p:nvSpPr>
          <p:cNvPr id="17" name="Text 9"/>
          <p:cNvSpPr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65D6B"/>
                </a:solidFill>
              </a:rPr>
              <a:t>Manita · manita-cdmx.netlify.app</a:t>
            </a:r>
            <a:endParaRPr lang="en-US" sz="1000" dirty="0"/>
          </a:p>
        </p:txBody>
      </p:sp>
      <p:sp>
        <p:nvSpPr>
          <p:cNvPr id="18" name="Text 10"/>
          <p:cNvSpPr/>
          <p:nvPr/>
        </p:nvSpPr>
        <p:spPr>
          <a:xfrm>
            <a:off x="1127729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5D6B"/>
                </a:solidFill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6B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43D26"/>
                </a:solidFill>
              </a:rPr>
              <a:t>CÓMO FUNCIONA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3E75"/>
                </a:solidFill>
              </a:rPr>
              <a:t>Dos flujos que encajan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9202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43D26"/>
                </a:solidFill>
              </a:rPr>
              <a:t>Cliente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2377440"/>
            <a:ext cx="2560320" cy="822960"/>
          </a:xfrm>
          <a:prstGeom prst="roundRect">
            <a:avLst>
              <a:gd name="adj" fmla="val 11111"/>
            </a:avLst>
          </a:prstGeom>
          <a:solidFill>
            <a:srgbClr val="FBF7F4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42316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32B"/>
                </a:solidFill>
              </a:rPr>
              <a:t>1. Busca y filtra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383280" y="2377440"/>
            <a:ext cx="2560320" cy="822960"/>
          </a:xfrm>
          <a:prstGeom prst="roundRect">
            <a:avLst>
              <a:gd name="adj" fmla="val 11111"/>
            </a:avLst>
          </a:prstGeom>
          <a:solidFill>
            <a:srgbClr val="FBF7F4"/>
          </a:solidFill>
          <a:ln/>
        </p:spPr>
      </p:sp>
      <p:sp>
        <p:nvSpPr>
          <p:cNvPr id="9" name="Text 7"/>
          <p:cNvSpPr/>
          <p:nvPr/>
        </p:nvSpPr>
        <p:spPr>
          <a:xfrm>
            <a:off x="3520440" y="242316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32B"/>
                </a:solidFill>
              </a:rPr>
              <a:t>2. Reserva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126480" y="2377440"/>
            <a:ext cx="2560320" cy="822960"/>
          </a:xfrm>
          <a:prstGeom prst="roundRect">
            <a:avLst>
              <a:gd name="adj" fmla="val 11111"/>
            </a:avLst>
          </a:prstGeom>
          <a:solidFill>
            <a:srgbClr val="FBF7F4"/>
          </a:solidFill>
          <a:ln/>
        </p:spPr>
      </p:sp>
      <p:sp>
        <p:nvSpPr>
          <p:cNvPr id="11" name="Text 9"/>
          <p:cNvSpPr/>
          <p:nvPr/>
        </p:nvSpPr>
        <p:spPr>
          <a:xfrm>
            <a:off x="6263640" y="242316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32B"/>
                </a:solidFill>
              </a:rPr>
              <a:t>3. Recibe servicio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869680" y="2377440"/>
            <a:ext cx="2560320" cy="822960"/>
          </a:xfrm>
          <a:prstGeom prst="roundRect">
            <a:avLst>
              <a:gd name="adj" fmla="val 11111"/>
            </a:avLst>
          </a:prstGeom>
          <a:solidFill>
            <a:srgbClr val="FBF7F4"/>
          </a:solidFill>
          <a:ln/>
        </p:spPr>
      </p:sp>
      <p:sp>
        <p:nvSpPr>
          <p:cNvPr id="13" name="Text 11"/>
          <p:cNvSpPr/>
          <p:nvPr/>
        </p:nvSpPr>
        <p:spPr>
          <a:xfrm>
            <a:off x="9006840" y="242316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32B"/>
                </a:solidFill>
              </a:rPr>
              <a:t>4. Confirma y reseña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0080" y="37490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43D26"/>
                </a:solidFill>
              </a:rPr>
              <a:t>Profesional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40080" y="4206240"/>
            <a:ext cx="2560320" cy="822960"/>
          </a:xfrm>
          <a:prstGeom prst="roundRect">
            <a:avLst>
              <a:gd name="adj" fmla="val 11111"/>
            </a:avLst>
          </a:prstGeom>
          <a:solidFill>
            <a:srgbClr val="FBF7F4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425196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32B"/>
                </a:solidFill>
              </a:rPr>
              <a:t>1. Crea perfil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383280" y="4206240"/>
            <a:ext cx="2560320" cy="822960"/>
          </a:xfrm>
          <a:prstGeom prst="roundRect">
            <a:avLst>
              <a:gd name="adj" fmla="val 11111"/>
            </a:avLst>
          </a:prstGeom>
          <a:solidFill>
            <a:srgbClr val="FBF7F4"/>
          </a:solidFill>
          <a:ln/>
        </p:spPr>
      </p:sp>
      <p:sp>
        <p:nvSpPr>
          <p:cNvPr id="18" name="Text 16"/>
          <p:cNvSpPr/>
          <p:nvPr/>
        </p:nvSpPr>
        <p:spPr>
          <a:xfrm>
            <a:off x="3520440" y="425196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32B"/>
                </a:solidFill>
              </a:rPr>
              <a:t>2. Define horario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126480" y="4206240"/>
            <a:ext cx="2560320" cy="822960"/>
          </a:xfrm>
          <a:prstGeom prst="roundRect">
            <a:avLst>
              <a:gd name="adj" fmla="val 11111"/>
            </a:avLst>
          </a:prstGeom>
          <a:solidFill>
            <a:srgbClr val="FBF7F4"/>
          </a:solidFill>
          <a:ln/>
        </p:spPr>
      </p:sp>
      <p:sp>
        <p:nvSpPr>
          <p:cNvPr id="20" name="Text 18"/>
          <p:cNvSpPr/>
          <p:nvPr/>
        </p:nvSpPr>
        <p:spPr>
          <a:xfrm>
            <a:off x="6263640" y="425196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32B"/>
                </a:solidFill>
              </a:rPr>
              <a:t>3. Confirma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8869680" y="4206240"/>
            <a:ext cx="2560320" cy="822960"/>
          </a:xfrm>
          <a:prstGeom prst="roundRect">
            <a:avLst>
              <a:gd name="adj" fmla="val 11111"/>
            </a:avLst>
          </a:prstGeom>
          <a:solidFill>
            <a:srgbClr val="FBF7F4"/>
          </a:solidFill>
          <a:ln/>
        </p:spPr>
      </p:sp>
      <p:sp>
        <p:nvSpPr>
          <p:cNvPr id="22" name="Text 20"/>
          <p:cNvSpPr/>
          <p:nvPr/>
        </p:nvSpPr>
        <p:spPr>
          <a:xfrm>
            <a:off x="9006840" y="425196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32B"/>
                </a:solidFill>
              </a:rPr>
              <a:t>4. Completa y cobra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65D6B"/>
                </a:solidFill>
              </a:rPr>
              <a:t>Manita · manita-cdmx.netlify.app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127729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5D6B"/>
                </a:solidFill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6B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43D26"/>
                </a:solidFill>
              </a:rPr>
              <a:t>ESTADO DEL PRODUCTO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3E75"/>
                </a:solidFill>
              </a:rPr>
              <a:t>Lo que YA funciona (verificado)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3474720" cy="1097280"/>
          </a:xfrm>
          <a:prstGeom prst="roundRect">
            <a:avLst>
              <a:gd name="adj" fmla="val 8333"/>
            </a:avLst>
          </a:prstGeom>
          <a:solidFill>
            <a:srgbClr val="FBF7F4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029968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3E75"/>
                </a:solidFill>
              </a:rPr>
              <a:t>Cuentas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237744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65D6B"/>
                </a:solidFill>
              </a:rPr>
              <a:t>Registro/login reales + consentimiento.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43400" y="1920240"/>
            <a:ext cx="3474720" cy="1097280"/>
          </a:xfrm>
          <a:prstGeom prst="roundRect">
            <a:avLst>
              <a:gd name="adj" fmla="val 8333"/>
            </a:avLst>
          </a:prstGeom>
          <a:solidFill>
            <a:srgbClr val="FBF7F4"/>
          </a:solidFill>
          <a:ln/>
        </p:spPr>
      </p:sp>
      <p:sp>
        <p:nvSpPr>
          <p:cNvPr id="9" name="Text 7"/>
          <p:cNvSpPr/>
          <p:nvPr/>
        </p:nvSpPr>
        <p:spPr>
          <a:xfrm>
            <a:off x="4526280" y="2029968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3E75"/>
                </a:solidFill>
              </a:rPr>
              <a:t>Buscar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526280" y="237744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65D6B"/>
                </a:solidFill>
              </a:rPr>
              <a:t>Filtros por categoría, precio y zona + orden.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046720" y="1920240"/>
            <a:ext cx="3474720" cy="1097280"/>
          </a:xfrm>
          <a:prstGeom prst="roundRect">
            <a:avLst>
              <a:gd name="adj" fmla="val 8333"/>
            </a:avLst>
          </a:prstGeom>
          <a:solidFill>
            <a:srgbClr val="FBF7F4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0" y="2029968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3E75"/>
                </a:solidFill>
              </a:rPr>
              <a:t>Reservar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229600" y="237744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65D6B"/>
                </a:solidFill>
              </a:rPr>
              <a:t>Precio server-side. Ciclo verificado 8/8.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3200400"/>
            <a:ext cx="3474720" cy="1097280"/>
          </a:xfrm>
          <a:prstGeom prst="roundRect">
            <a:avLst>
              <a:gd name="adj" fmla="val 8333"/>
            </a:avLst>
          </a:prstGeom>
          <a:solidFill>
            <a:srgbClr val="FBF7F4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3310128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3E75"/>
                </a:solidFill>
              </a:rPr>
              <a:t>Profesional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22960" y="365760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65D6B"/>
                </a:solidFill>
              </a:rPr>
              <a:t>Panel con estados y disponibilidad.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343400" y="3200400"/>
            <a:ext cx="3474720" cy="1097280"/>
          </a:xfrm>
          <a:prstGeom prst="roundRect">
            <a:avLst>
              <a:gd name="adj" fmla="val 8333"/>
            </a:avLst>
          </a:prstGeom>
          <a:solidFill>
            <a:srgbClr val="FBF7F4"/>
          </a:solidFill>
          <a:ln/>
        </p:spPr>
      </p:sp>
      <p:sp>
        <p:nvSpPr>
          <p:cNvPr id="18" name="Text 16"/>
          <p:cNvSpPr/>
          <p:nvPr/>
        </p:nvSpPr>
        <p:spPr>
          <a:xfrm>
            <a:off x="4526280" y="3310128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3E75"/>
                </a:solidFill>
              </a:rPr>
              <a:t>Actividad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526280" y="365760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65D6B"/>
                </a:solidFill>
              </a:rPr>
              <a:t>Notificaciones in-app del ciclo.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046720" y="3200400"/>
            <a:ext cx="3474720" cy="1097280"/>
          </a:xfrm>
          <a:prstGeom prst="roundRect">
            <a:avLst>
              <a:gd name="adj" fmla="val 8333"/>
            </a:avLst>
          </a:prstGeom>
          <a:solidFill>
            <a:srgbClr val="FBF7F4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0" y="3310128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3E75"/>
                </a:solidFill>
              </a:rPr>
              <a:t>PWA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229600" y="365760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65D6B"/>
                </a:solidFill>
              </a:rPr>
              <a:t>Instalable Android/iPhone, onboarding, offline.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40080" y="4846320"/>
            <a:ext cx="10881360" cy="548640"/>
          </a:xfrm>
          <a:prstGeom prst="rect">
            <a:avLst/>
          </a:prstGeom>
          <a:solidFill>
            <a:srgbClr val="E6F7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C6B4F"/>
                </a:solidFill>
              </a:rPr>
              <a:t>Calidad: 70/70 smoke · 47/47 navegador · 0 violaciones de accesibilidad · 20 usuarios simulados sin fallos.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65D6B"/>
                </a:solidFill>
              </a:rPr>
              <a:t>Manita · manita-cdmx.netlify.app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127729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5D6B"/>
                </a:solidFill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6B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43D26"/>
                </a:solidFill>
              </a:rPr>
              <a:t>RECORRIDO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3E75"/>
                </a:solidFill>
              </a:rPr>
              <a:t>Mejoras aplicadas hasta hoy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920240"/>
            <a:ext cx="1088136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600" dirty="0">
                <a:solidFill>
                  <a:srgbClr val="22232B"/>
                </a:solidFill>
              </a:rPr>
              <a:t>Backend seguro: precio, estados y rating en el servidor (no manipulables).</a:t>
            </a:r>
            <a:endParaRPr lang="en-US" sz="16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600" dirty="0">
                <a:solidFill>
                  <a:srgbClr val="22232B"/>
                </a:solidFill>
              </a:rPr>
              <a:t>Rediseño "modo app" tipo nativo + PWA/APK instalable.</a:t>
            </a:r>
            <a:endParaRPr lang="en-US" sz="16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600" dirty="0">
                <a:solidFill>
                  <a:srgbClr val="22232B"/>
                </a:solidFill>
              </a:rPr>
              <a:t>Accesibilidad AA, SEO, rendimiento y estados vacíos con marca.</a:t>
            </a:r>
            <a:endParaRPr lang="en-US" sz="16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600" dirty="0">
                <a:solidFill>
                  <a:srgbClr val="22232B"/>
                </a:solidFill>
              </a:rPr>
              <a:t>Ciclo transaccional completo (reservar → gestionar → reseñar → rating real).</a:t>
            </a:r>
            <a:endParaRPr lang="en-US" sz="16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600" dirty="0">
                <a:solidFill>
                  <a:srgbClr val="22232B"/>
                </a:solidFill>
              </a:rPr>
              <a:t>Filtros de precio/zona, orden, centro de Actividad, disponibilidad del pro.</a:t>
            </a:r>
            <a:endParaRPr lang="en-US" sz="16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600" dirty="0">
                <a:solidFill>
                  <a:srgbClr val="22232B"/>
                </a:solidFill>
              </a:rPr>
              <a:t>Base legal completa (T&amp;C, privacidad ARCO, reembolsos) y plan de pagos.</a:t>
            </a:r>
            <a:endParaRPr lang="en-US" sz="16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600" dirty="0">
                <a:solidFill>
                  <a:srgbClr val="22232B"/>
                </a:solidFill>
              </a:rPr>
              <a:t>Congruencia web ↔ app revisada y corregida.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65D6B"/>
                </a:solidFill>
              </a:rPr>
              <a:t>Manita · manita-cdmx.netlify.app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27729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5D6B"/>
                </a:solidFill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6B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43D26"/>
                </a:solidFill>
              </a:rPr>
              <a:t>SEGURIDAD Y LEGAL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3E75"/>
                </a:solidFill>
              </a:rPr>
              <a:t>Construido para ser confiable y legal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920240"/>
            <a:ext cx="1088136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700" dirty="0">
                <a:solidFill>
                  <a:srgbClr val="22232B"/>
                </a:solidFill>
              </a:rPr>
              <a:t>Manita es intermediario, no presta el servicio ni es empleador (T&amp;C).</a:t>
            </a:r>
            <a:endParaRPr lang="en-US" sz="17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700" dirty="0">
                <a:solidFill>
                  <a:srgbClr val="22232B"/>
                </a:solidFill>
              </a:rPr>
              <a:t>Aviso de Privacidad conforme LFPDPPP con derechos ARCO.</a:t>
            </a:r>
            <a:endParaRPr lang="en-US" sz="17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700" dirty="0">
                <a:solidFill>
                  <a:srgbClr val="22232B"/>
                </a:solidFill>
              </a:rPr>
              <a:t>Pagos con split (Mercado Pago/Stripe): el dinero no se retiene en Manita → evita el problema de la Ley Fintech.</a:t>
            </a:r>
            <a:endParaRPr lang="en-US" sz="17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700" dirty="0">
                <a:solidFill>
                  <a:srgbClr val="22232B"/>
                </a:solidFill>
              </a:rPr>
              <a:t>Copy honesto, sin datos falsos (cumple PROFECO).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40080" y="4572000"/>
            <a:ext cx="10881360" cy="640080"/>
          </a:xfrm>
          <a:prstGeom prst="rect">
            <a:avLst/>
          </a:prstGeom>
          <a:solidFill>
            <a:srgbClr val="FFF0E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43D26"/>
                </a:solidFill>
              </a:rPr>
              <a:t>⚠️ Requiere revisión de un abogado fintech mexicano antes de cobrar dinero real.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65D6B"/>
                </a:solidFill>
              </a:rPr>
              <a:t>Manita · manita-cdmx.netlify.app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127729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5D6B"/>
                </a:solidFill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6B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43D26"/>
                </a:solidFill>
              </a:rPr>
              <a:t>MODELO DE PAGO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3E75"/>
                </a:solidFill>
              </a:rPr>
              <a:t>Dinero protegido de punta a punta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2377440"/>
            <a:ext cx="2560320" cy="1371600"/>
          </a:xfrm>
          <a:prstGeom prst="roundRect">
            <a:avLst>
              <a:gd name="adj" fmla="val 8000"/>
            </a:avLst>
          </a:prstGeom>
          <a:solidFill>
            <a:srgbClr val="FBF7F4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4688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6B4A"/>
                </a:solidFill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77240" y="301752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32B"/>
                </a:solidFill>
              </a:rPr>
              <a:t>Cliente paga → se autoriza (aparta)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383280" y="2377440"/>
            <a:ext cx="2560320" cy="1371600"/>
          </a:xfrm>
          <a:prstGeom prst="roundRect">
            <a:avLst>
              <a:gd name="adj" fmla="val 8000"/>
            </a:avLst>
          </a:prstGeom>
          <a:solidFill>
            <a:srgbClr val="FBF7F4"/>
          </a:solidFill>
          <a:ln/>
        </p:spPr>
      </p:sp>
      <p:sp>
        <p:nvSpPr>
          <p:cNvPr id="9" name="Text 7"/>
          <p:cNvSpPr/>
          <p:nvPr/>
        </p:nvSpPr>
        <p:spPr>
          <a:xfrm>
            <a:off x="3520440" y="24688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6B4A"/>
                </a:solidFill>
              </a:rPr>
              <a:t>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520440" y="301752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32B"/>
                </a:solidFill>
              </a:rPr>
              <a:t>Pro realiza el servicio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126480" y="2377440"/>
            <a:ext cx="2560320" cy="1371600"/>
          </a:xfrm>
          <a:prstGeom prst="roundRect">
            <a:avLst>
              <a:gd name="adj" fmla="val 8000"/>
            </a:avLst>
          </a:prstGeom>
          <a:solidFill>
            <a:srgbClr val="FBF7F4"/>
          </a:solidFill>
          <a:ln/>
        </p:spPr>
      </p:sp>
      <p:sp>
        <p:nvSpPr>
          <p:cNvPr id="12" name="Text 10"/>
          <p:cNvSpPr/>
          <p:nvPr/>
        </p:nvSpPr>
        <p:spPr>
          <a:xfrm>
            <a:off x="6263640" y="24688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6B4A"/>
                </a:solidFill>
              </a:rPr>
              <a:t>3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263640" y="301752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32B"/>
                </a:solidFill>
              </a:rPr>
              <a:t>Cliente confirma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869680" y="2377440"/>
            <a:ext cx="2560320" cy="1371600"/>
          </a:xfrm>
          <a:prstGeom prst="roundRect">
            <a:avLst>
              <a:gd name="adj" fmla="val 8000"/>
            </a:avLst>
          </a:prstGeom>
          <a:solidFill>
            <a:srgbClr val="FFF0EC"/>
          </a:solidFill>
          <a:ln/>
        </p:spPr>
      </p:sp>
      <p:sp>
        <p:nvSpPr>
          <p:cNvPr id="15" name="Text 13"/>
          <p:cNvSpPr/>
          <p:nvPr/>
        </p:nvSpPr>
        <p:spPr>
          <a:xfrm>
            <a:off x="9006840" y="24688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6B4A"/>
                </a:solidFill>
              </a:rPr>
              <a:t>4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9006840" y="301752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32B"/>
                </a:solidFill>
              </a:rPr>
              <a:t>Se cobra: comisión a Manita, resto al pro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" y="411480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32B"/>
                </a:solidFill>
              </a:rPr>
              <a:t>El reparto lo hace la pasarela automáticamente (split). Comisión transparente antes de reservar.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65D6B"/>
                </a:solidFill>
              </a:rPr>
              <a:t>Manita · manita-cdmx.netlify.app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127729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5D6B"/>
                </a:solidFill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6B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43D26"/>
                </a:solidFill>
              </a:rPr>
              <a:t>MERCADO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3E75"/>
                </a:solidFill>
              </a:rPr>
              <a:t>Competencia y posicionamiento</a:t>
            </a:r>
            <a:endParaRPr lang="en-US" sz="3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011680"/>
          <a:ext cx="1088136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3840480"/>
                <a:gridCol w="39319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Referente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E7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Qué hace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E7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Manita se diferencia en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E7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32B"/>
                          </a:solidFill>
                        </a:rPr>
                        <a:t>Webel (España)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7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32B"/>
                          </a:solidFill>
                        </a:rPr>
                        <a:t>Servicios a domicilio, app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7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32B"/>
                          </a:solidFill>
                        </a:rPr>
                        <a:t>Enfoque 100% CDMX, identidad propia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7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32B"/>
                          </a:solidFill>
                        </a:rPr>
                        <a:t>TaskRabbit (EEUU)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32B"/>
                          </a:solidFill>
                        </a:rPr>
                        <a:t>Tareas y handyman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32B"/>
                          </a:solidFill>
                        </a:rPr>
                        <a:t>Español mexicano, categorías locales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32B"/>
                          </a:solidFill>
                        </a:rPr>
                        <a:t>Recomendación informal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7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32B"/>
                          </a:solidFill>
                        </a:rPr>
                        <a:t>WhatsApp / redes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7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32B"/>
                          </a:solidFill>
                        </a:rPr>
                        <a:t>Verificación, reseñas y respaldo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7F4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40080" y="475488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5D6B"/>
                </a:solidFill>
              </a:rPr>
              <a:t>📌 Tamaño de mercado, precios y demanda: por validar con investigación de campo antes de invertir.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65D6B"/>
                </a:solidFill>
              </a:rPr>
              <a:t>Manita · manita-cdmx.netlify.app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127729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5D6B"/>
                </a:solidFill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6B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43D26"/>
                </a:solidFill>
              </a:rPr>
              <a:t>GROWTH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3E75"/>
                </a:solidFill>
              </a:rPr>
              <a:t>Social media y lanzamiento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5303520" cy="1188720"/>
          </a:xfrm>
          <a:prstGeom prst="roundRect">
            <a:avLst>
              <a:gd name="adj" fmla="val 7692"/>
            </a:avLst>
          </a:prstGeom>
          <a:solidFill>
            <a:srgbClr val="FBF7F4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029968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3E75"/>
                </a:solidFill>
              </a:rPr>
              <a:t>Canales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2377440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65D6B"/>
                </a:solidFill>
              </a:rPr>
              <a:t>Instagram y TikTok (antes/después), Facebook grupos de colonia, WhatsApp.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172200" y="1920240"/>
            <a:ext cx="5303520" cy="1188720"/>
          </a:xfrm>
          <a:prstGeom prst="roundRect">
            <a:avLst>
              <a:gd name="adj" fmla="val 7692"/>
            </a:avLst>
          </a:prstGeom>
          <a:solidFill>
            <a:srgbClr val="FBF7F4"/>
          </a:solidFill>
          <a:ln/>
        </p:spPr>
      </p:sp>
      <p:sp>
        <p:nvSpPr>
          <p:cNvPr id="9" name="Text 7"/>
          <p:cNvSpPr/>
          <p:nvPr/>
        </p:nvSpPr>
        <p:spPr>
          <a:xfrm>
            <a:off x="6355080" y="2029968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3E75"/>
                </a:solidFill>
              </a:rPr>
              <a:t>Contenido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355080" y="2377440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65D6B"/>
                </a:solidFill>
              </a:rPr>
              <a:t>Tips del hogar, historias de profesionales, "cómo instalar la app", testimonios reales.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3291840"/>
            <a:ext cx="5303520" cy="1188720"/>
          </a:xfrm>
          <a:prstGeom prst="roundRect">
            <a:avLst>
              <a:gd name="adj" fmla="val 7692"/>
            </a:avLst>
          </a:prstGeom>
          <a:solidFill>
            <a:srgbClr val="FBF7F4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3401568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3E75"/>
                </a:solidFill>
              </a:rPr>
              <a:t>Fase 1 — Semilla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22960" y="3749040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65D6B"/>
                </a:solidFill>
              </a:rPr>
              <a:t>Reclutar 20-30 profesionales reales por colonia (Roma, Condesa, Del Valle).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72200" y="3291840"/>
            <a:ext cx="5303520" cy="1188720"/>
          </a:xfrm>
          <a:prstGeom prst="roundRect">
            <a:avLst>
              <a:gd name="adj" fmla="val 7692"/>
            </a:avLst>
          </a:prstGeom>
          <a:solidFill>
            <a:srgbClr val="FBF7F4"/>
          </a:solidFill>
          <a:ln/>
        </p:spPr>
      </p:sp>
      <p:sp>
        <p:nvSpPr>
          <p:cNvPr id="15" name="Text 13"/>
          <p:cNvSpPr/>
          <p:nvPr/>
        </p:nvSpPr>
        <p:spPr>
          <a:xfrm>
            <a:off x="6355080" y="3401568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3E75"/>
                </a:solidFill>
              </a:rPr>
              <a:t>Fase 2 — Demanda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355080" y="3749040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65D6B"/>
                </a:solidFill>
              </a:rPr>
              <a:t>Campañas locales geolocalizadas + referidos (invita y gana).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0080" y="484632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43D26"/>
                </a:solidFill>
              </a:rPr>
              <a:t>Estrategia gratuita primero (orgánico + boca a boca). Pauta pagada solo cuando haya oferta suficiente.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65D6B"/>
                </a:solidFill>
              </a:rPr>
              <a:t>Manita · manita-cdmx.netlify.app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127729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5D6B"/>
                </a:solidFill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6B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43D26"/>
                </a:solidFill>
              </a:rPr>
              <a:t>COSTOS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3E75"/>
                </a:solidFill>
              </a:rPr>
              <a:t>Qué es gratis hoy y qué cuesta a futuro</a:t>
            </a:r>
            <a:endParaRPr lang="en-US" sz="30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920240"/>
          <a:ext cx="10881360" cy="914400"/>
        </p:xfrm>
        <a:graphic>
          <a:graphicData uri="http://schemas.openxmlformats.org/drawingml/2006/table">
            <a:tbl>
              <a:tblPr/>
              <a:tblGrid>
                <a:gridCol w="5486400"/>
                <a:gridCol w="3200400"/>
                <a:gridCol w="21945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Concepto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E7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Costo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E7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Cuándo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E7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32B"/>
                          </a:solidFill>
                        </a:rPr>
                        <a:t>Hosting (Netlify) + Backend (Supabase)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7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C6B4F"/>
                          </a:solidFill>
                        </a:rPr>
                        <a:t>Gratis (plan free)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7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32B"/>
                          </a:solidFill>
                        </a:rPr>
                        <a:t>Ahora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7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32B"/>
                          </a:solidFill>
                        </a:rPr>
                        <a:t>PWA / APK (instalable)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C6B4F"/>
                          </a:solidFill>
                        </a:rPr>
                        <a:t>Gratis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32B"/>
                          </a:solidFill>
                        </a:rPr>
                        <a:t>Ahora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32B"/>
                          </a:solidFill>
                        </a:rPr>
                        <a:t>Pasarela de pago (Mercado Pago)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7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32B"/>
                          </a:solidFill>
                        </a:rPr>
                        <a:t>~3-4% + IVA por venta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7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32B"/>
                          </a:solidFill>
                        </a:rPr>
                        <a:t>Al cobrar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7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32B"/>
                          </a:solidFill>
                        </a:rPr>
                        <a:t>Correo propio (SMTP)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C6B4F"/>
                          </a:solidFill>
                        </a:rPr>
                        <a:t>Plan free (Resend/Brevo)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32B"/>
                          </a:solidFill>
                        </a:rPr>
                        <a:t>Al escalar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32B"/>
                          </a:solidFill>
                        </a:rPr>
                        <a:t>Google Play (opcional)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7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32B"/>
                          </a:solidFill>
                        </a:rPr>
                        <a:t>$25 USD único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7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32B"/>
                          </a:solidFill>
                        </a:rPr>
                        <a:t>Si se publica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7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32B"/>
                          </a:solidFill>
                        </a:rPr>
                        <a:t>App Store (opcional)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32B"/>
                          </a:solidFill>
                        </a:rPr>
                        <a:t>$99 USD/año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32B"/>
                          </a:solidFill>
                        </a:rPr>
                        <a:t>Si se publica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32B"/>
                          </a:solidFill>
                        </a:rPr>
                        <a:t>Revisión legal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7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32B"/>
                          </a:solidFill>
                        </a:rPr>
                        <a:t>Variable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7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32B"/>
                          </a:solidFill>
                        </a:rPr>
                        <a:t>Antes de cobrar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7F4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40080" y="566928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C6B4F"/>
                </a:solidFill>
              </a:rPr>
              <a:t>Hoy no se gasta nada. Los costos aparecen solo cuando hay ventas o se decide publicar en tiendas.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65D6B"/>
                </a:solidFill>
              </a:rPr>
              <a:t>Manita · manita-cdmx.netlify.app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127729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5D6B"/>
                </a:solidFill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6B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43D26"/>
                </a:solidFill>
              </a:rPr>
              <a:t>ROADMAP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3E75"/>
                </a:solidFill>
              </a:rPr>
              <a:t>Hacia el lanzamiento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5303520" cy="1188720"/>
          </a:xfrm>
          <a:prstGeom prst="roundRect">
            <a:avLst>
              <a:gd name="adj" fmla="val 7692"/>
            </a:avLst>
          </a:prstGeom>
          <a:solidFill>
            <a:srgbClr val="FFF0EC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029968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43D26"/>
                </a:solidFill>
              </a:rPr>
              <a:t>Esta semana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2377440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32B"/>
                </a:solidFill>
              </a:rPr>
              <a:t>Config Supabase pendiente + reclutar primeros profesionales reales.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172200" y="1920240"/>
            <a:ext cx="5303520" cy="1188720"/>
          </a:xfrm>
          <a:prstGeom prst="roundRect">
            <a:avLst>
              <a:gd name="adj" fmla="val 7692"/>
            </a:avLst>
          </a:prstGeom>
          <a:solidFill>
            <a:srgbClr val="FFF0EC"/>
          </a:solidFill>
          <a:ln/>
        </p:spPr>
      </p:sp>
      <p:sp>
        <p:nvSpPr>
          <p:cNvPr id="9" name="Text 7"/>
          <p:cNvSpPr/>
          <p:nvPr/>
        </p:nvSpPr>
        <p:spPr>
          <a:xfrm>
            <a:off x="6355080" y="2029968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43D26"/>
                </a:solidFill>
              </a:rPr>
              <a:t>Este mes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355080" y="2377440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32B"/>
                </a:solidFill>
              </a:rPr>
              <a:t>Definir modelo económico, contenido social, primeras reservas reales.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3291840"/>
            <a:ext cx="5303520" cy="1188720"/>
          </a:xfrm>
          <a:prstGeom prst="roundRect">
            <a:avLst>
              <a:gd name="adj" fmla="val 7692"/>
            </a:avLst>
          </a:prstGeom>
          <a:solidFill>
            <a:srgbClr val="FFF0EC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3401568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43D26"/>
                </a:solidFill>
              </a:rPr>
              <a:t>3 meses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22960" y="3749040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32B"/>
                </a:solidFill>
              </a:rPr>
              <a:t>Integrar pagos con split, revisión legal, verificación de profesionales.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72200" y="3291840"/>
            <a:ext cx="5303520" cy="1188720"/>
          </a:xfrm>
          <a:prstGeom prst="roundRect">
            <a:avLst>
              <a:gd name="adj" fmla="val 7692"/>
            </a:avLst>
          </a:prstGeom>
          <a:solidFill>
            <a:srgbClr val="FFF0EC"/>
          </a:solidFill>
          <a:ln/>
        </p:spPr>
      </p:sp>
      <p:sp>
        <p:nvSpPr>
          <p:cNvPr id="15" name="Text 13"/>
          <p:cNvSpPr/>
          <p:nvPr/>
        </p:nvSpPr>
        <p:spPr>
          <a:xfrm>
            <a:off x="6355080" y="3401568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43D26"/>
                </a:solidFill>
              </a:rPr>
              <a:t>6 meses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355080" y="3749040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32B"/>
                </a:solidFill>
              </a:rPr>
              <a:t>Escalar colonias, notificaciones push/email, evaluar tiendas.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65D6B"/>
                </a:solidFill>
              </a:rPr>
              <a:t>Manita · manita-cdmx.netlify.app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127729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5D6B"/>
                </a:solidFill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6B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43D26"/>
                </a:solidFill>
              </a:rPr>
              <a:t>PENDIENTES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3E75"/>
                </a:solidFill>
              </a:rPr>
              <a:t>Lo que falta para lanzar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920240"/>
            <a:ext cx="1088136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700" dirty="0">
                <a:solidFill>
                  <a:srgbClr val="22232B"/>
                </a:solidFill>
              </a:rPr>
              <a:t>Negocio: definir comisión y las 10 decisiones del modelo económico.</a:t>
            </a:r>
            <a:endParaRPr lang="en-US" sz="17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700" dirty="0">
                <a:solidFill>
                  <a:srgbClr val="22232B"/>
                </a:solidFill>
              </a:rPr>
              <a:t>Legal: revisión con abogado + datos fiscales/razón social.</a:t>
            </a:r>
            <a:endParaRPr lang="en-US" sz="17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700" dirty="0">
                <a:solidFill>
                  <a:srgbClr val="22232B"/>
                </a:solidFill>
              </a:rPr>
              <a:t>Pagos: integrar Mercado Pago con split (Edge Functions).</a:t>
            </a:r>
            <a:endParaRPr lang="en-US" sz="17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700" dirty="0">
                <a:solidFill>
                  <a:srgbClr val="22232B"/>
                </a:solidFill>
              </a:rPr>
              <a:t>Correo: SMTP propio para reactivar confirmación.</a:t>
            </a:r>
            <a:endParaRPr lang="en-US" sz="17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700" dirty="0">
                <a:solidFill>
                  <a:srgbClr val="22232B"/>
                </a:solidFill>
              </a:rPr>
              <a:t>Oferta: reclutar profesionales reales por colonia.</a:t>
            </a:r>
            <a:endParaRPr lang="en-US" sz="17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700" dirty="0">
                <a:solidFill>
                  <a:srgbClr val="22232B"/>
                </a:solidFill>
              </a:rPr>
              <a:t>Mercado: validar demanda y precios con investigación de campo.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65D6B"/>
                </a:solidFill>
              </a:rPr>
              <a:t>Manita · manita-cdmx.netlify.app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27729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5D6B"/>
                </a:solidFill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2D3E7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463040"/>
            <a:ext cx="12191695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dirty="0">
                <a:solidFill>
                  <a:srgbClr val="FFFFFF"/>
                </a:solidFill>
              </a:rPr>
              <a:t>🤝</a:t>
            </a:r>
            <a:endParaRPr lang="en-US" sz="6400" dirty="0"/>
          </a:p>
        </p:txBody>
      </p:sp>
      <p:sp>
        <p:nvSpPr>
          <p:cNvPr id="3" name="Text 1"/>
          <p:cNvSpPr/>
          <p:nvPr/>
        </p:nvSpPr>
        <p:spPr>
          <a:xfrm>
            <a:off x="914400" y="2651760"/>
            <a:ext cx="1036289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Manita está listo para probarse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371600" y="3657600"/>
            <a:ext cx="944849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D8DEF0"/>
                </a:solidFill>
              </a:rPr>
              <a:t>MVP funcional, instalable y con base legal. El siguiente paso: primeros profesionales y clientes reales en CDMX.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0" y="4846320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A9B4D9"/>
                </a:solidFill>
              </a:rPr>
              <a:t>manita-cdmx.netlify.app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Manita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Manita — Servicios a domicilio CDMX</dc:title>
  <dc:subject>Presentación ejecutiva</dc:subject>
  <dc:creator>Manita</dc:creator>
  <cp:lastModifiedBy>Manita</cp:lastModifiedBy>
  <cp:revision>1</cp:revision>
  <dcterms:created xsi:type="dcterms:W3CDTF">2026-08-21T03:41:01Z</dcterms:created>
  <dcterms:modified xsi:type="dcterms:W3CDTF">2026-08-21T03:41:01Z</dcterms:modified>
</cp:coreProperties>
</file>